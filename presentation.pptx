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resentation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1260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9CF0"/>
                </a:solidFill>
                <a:latin typeface="Courier New"/>
              </a:rPr>
              <a:t>VICI TAKE-HOME · MAR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1800000"/>
            <a:ext cx="86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 Bold"/>
              </a:rPr>
              <a:t>AI Agent
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311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080"/>
                </a:solidFill>
                <a:latin typeface="Calibri"/>
              </a:rPr>
              <a:t>Three production-grade services built with strict TDD, deployed on Zeabur,
and driven by Claude Code as the AI coding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0" y="4031999"/>
            <a:ext cx="1620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3D9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4031999"/>
            <a:ext cx="16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D9CF0"/>
                </a:solidFill>
                <a:latin typeface="Courier New"/>
              </a:rPr>
              <a:t>TASK 1 · LITELLM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8000" y="4031999"/>
            <a:ext cx="1620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A4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8000" y="4031999"/>
            <a:ext cx="16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A47CFF"/>
                </a:solidFill>
                <a:latin typeface="Courier New"/>
              </a:rPr>
              <a:t>TASK 2 · GITHUB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6000" y="4031999"/>
            <a:ext cx="1620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0" y="4031999"/>
            <a:ext cx="16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4C974"/>
                </a:solidFill>
                <a:latin typeface="Courier New"/>
              </a:rPr>
              <a:t>TASK 3 · BROWSER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4464000"/>
            <a:ext cx="8640000" cy="7200"/>
          </a:xfrm>
          <a:prstGeom prst="rect">
            <a:avLst/>
          </a:prstGeom>
          <a:solidFill>
            <a:srgbClr val="1E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0" y="4536000"/>
            <a:ext cx="14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ourier New"/>
              </a:rP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4716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E8F0"/>
                </a:solidFill>
                <a:latin typeface="Calibri Bold"/>
              </a:rPr>
              <a:t>3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4536000"/>
            <a:ext cx="14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ourier New"/>
              </a:rPr>
              <a:t>UNIT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4716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E8F0"/>
                </a:solidFill>
                <a:latin typeface="Calibri Bold"/>
              </a:rPr>
              <a:t>60+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4536000"/>
            <a:ext cx="14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ourier New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4716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E8F0"/>
                </a:solidFill>
                <a:latin typeface="Calibri Bold"/>
              </a:rPr>
              <a:t>TDD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0" y="4536000"/>
            <a:ext cx="14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ourier New"/>
              </a:rP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000" y="4716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E8F0"/>
                </a:solidFill>
                <a:latin typeface="Calibri Bold"/>
              </a:rPr>
              <a:t>Zeabur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4536000"/>
            <a:ext cx="14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ourier New"/>
              </a:rPr>
              <a:t>AI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4716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E8F0"/>
                </a:solidFill>
                <a:latin typeface="Calibri Bold"/>
              </a:rPr>
              <a:t>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9CF0"/>
                </a:solidFill>
                <a:latin typeface="Courier New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44000"/>
            <a:ext cx="9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80"/>
                </a:solidFill>
                <a:latin typeface="Calibri"/>
              </a:rPr>
              <a:t>Three independent services wired together — each deployed on Zeabur, communicating via HTTP.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68000"/>
            <a:ext cx="1728000" cy="432000"/>
          </a:xfrm>
          <a:prstGeom prst="rect">
            <a:avLst/>
          </a:prstGeom>
          <a:solidFill>
            <a:srgbClr val="0E1419"/>
          </a:solidFill>
          <a:ln w="15240">
            <a:solidFill>
              <a:srgbClr val="A4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386000"/>
            <a:ext cx="1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A47CFF"/>
                </a:solidFill>
                <a:latin typeface="Calibri"/>
              </a:rPr>
              <a:t>Task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54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07080"/>
                </a:solidFill>
                <a:latin typeface="Calibri"/>
              </a:rPr>
              <a:t>/gh-test · /gh-lint
/gh-deploy · /gh-status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4000" y="1368000"/>
            <a:ext cx="1728000" cy="432000"/>
          </a:xfrm>
          <a:prstGeom prst="rect">
            <a:avLst/>
          </a:prstGeom>
          <a:solidFill>
            <a:srgbClr val="0E1419"/>
          </a:solidFill>
          <a:ln w="15240">
            <a:solidFill>
              <a:srgbClr val="FF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4000" y="1386000"/>
            <a:ext cx="1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9640"/>
                </a:solidFill>
                <a:latin typeface="Calibri"/>
              </a:rPr>
              <a:t>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4000" y="154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07080"/>
                </a:solidFill>
                <a:latin typeface="Calibri"/>
              </a:rPr>
              <a:t>test.yml · lint.yml
deploy.yml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0000" y="1368000"/>
            <a:ext cx="1728000" cy="432000"/>
          </a:xfrm>
          <a:prstGeom prst="rect">
            <a:avLst/>
          </a:prstGeom>
          <a:solidFill>
            <a:srgbClr val="0E1419"/>
          </a:solidFill>
          <a:ln w="1524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0000" y="1386000"/>
            <a:ext cx="1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4C974"/>
                </a:solidFill>
                <a:latin typeface="Calibri"/>
              </a:rPr>
              <a:t>Task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000" y="154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07080"/>
                </a:solidFill>
                <a:latin typeface="Calibri"/>
              </a:rPr>
              <a:t>POST /run-task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3999" y="1368000"/>
            <a:ext cx="1728000" cy="432000"/>
          </a:xfrm>
          <a:prstGeom prst="rect">
            <a:avLst/>
          </a:prstGeom>
          <a:solidFill>
            <a:srgbClr val="0E1419"/>
          </a:solidFill>
          <a:ln w="15240">
            <a:solidFill>
              <a:srgbClr val="3D9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999" y="1386000"/>
            <a:ext cx="1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D9CF0"/>
                </a:solidFill>
                <a:latin typeface="Calibri"/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999" y="154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07080"/>
                </a:solidFill>
                <a:latin typeface="Calibri"/>
              </a:rPr>
              <a:t>POST /v1/chat/completions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368000"/>
            <a:ext cx="1728000" cy="432000"/>
          </a:xfrm>
          <a:prstGeom prst="rect">
            <a:avLst/>
          </a:prstGeom>
          <a:solidFill>
            <a:srgbClr val="0E1419"/>
          </a:solidFill>
          <a:ln w="1524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8000" y="1386000"/>
            <a:ext cx="1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5757"/>
                </a:solidFill>
                <a:latin typeface="Calibri"/>
              </a:rPr>
              <a:t>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154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07080"/>
                </a:solidFill>
                <a:latin typeface="Calibri"/>
              </a:rPr>
              <a:t>claude -p "..."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000" y="14940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000" y="14940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0000" y="14940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3999" y="14940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2232000"/>
            <a:ext cx="3600000" cy="4428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00" y="2304000"/>
            <a:ext cx="338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GITHUB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" y="2520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9CF0"/>
                </a:solidFill>
                <a:latin typeface="Courier New"/>
              </a:rPr>
              <a:t>github.com/freedom870601/claude-agent-platform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" y="2718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Commit history shows strict TDD red→green pairs throughout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0000" y="2232000"/>
            <a:ext cx="3600000" cy="4428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000" y="2304000"/>
            <a:ext cx="338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LIVE SERVICES (ZEABUR)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000" y="2520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4C974"/>
                </a:solidFill>
                <a:latin typeface="Courier New"/>
              </a:rPr>
              <a:t>Task 1  litellm-proxy-vici.zeabur.app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000" y="2718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ourier New"/>
              </a:rPr>
              <a:t>Task 3  browser-agent.zeabur.app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000" y="2916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Task 2  Claude Code only (no HTTP)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0000" y="2232000"/>
            <a:ext cx="3600000" cy="4428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8000" y="2304000"/>
            <a:ext cx="338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AI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8000" y="2520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7CFF"/>
                </a:solidFill>
                <a:latin typeface="Calibri"/>
              </a:rPr>
              <a:t>Entire project built with Claude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8000" y="2718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Skills used: /project:tdd, /project:commit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8000" y="2916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TDD loop driven by Claude — tests first, then impl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8000" y="3114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All commits authored via Claude Code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9CF0"/>
                </a:solidFill>
                <a:latin typeface="Courier New"/>
              </a:rPr>
              <a:t>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Bold"/>
              </a:rPr>
              <a:t>LiteLLM Proxy — Claude CLI as an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Calibri"/>
              </a:rPr>
              <a:t>Bridges the claude CLI into an OpenAI-compatible endpoint. Any client that speaks OpenAI can use Claude — no SDK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692000"/>
            <a:ext cx="1548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92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DCE8F0"/>
                </a:solidFill>
                <a:latin typeface="Courier New"/>
              </a:rPr>
              <a:t>OpenAI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8000" y="1710000"/>
            <a:ext cx="14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2000" y="1692000"/>
            <a:ext cx="1548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3D9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2000" y="1692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DCE8F0"/>
                </a:solidFill>
                <a:latin typeface="Courier New"/>
              </a:rPr>
              <a:t>LiteLLM CustomLLM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1710000"/>
            <a:ext cx="14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9CF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4000" y="1692000"/>
            <a:ext cx="1548000" cy="198000"/>
          </a:xfrm>
          <a:prstGeom prst="rect">
            <a:avLst/>
          </a:prstGeom>
          <a:solidFill>
            <a:srgbClr val="0E1419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4000" y="1692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DCE8F0"/>
                </a:solidFill>
                <a:latin typeface="Courier New"/>
              </a:rPr>
              <a:t>claude -p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015999"/>
            <a:ext cx="50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KEY IMPLEMENTATION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19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" y="219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ClaudeCLIProvider(CustomLLM) in custom_handler.py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37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237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acompletion() + astreaming() async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255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255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Multi-turn history → Human: …\nAssistant: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273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" y="273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Tools serialised into --system-prompt, JSON parsed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291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" y="291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_SUBPROCESS_ENV = dict(os.environ) — avoids uvloop rejection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3096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000" y="3096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120-second timeout for Claude CLI subprocess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1224000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DEMO — CURL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1404000"/>
            <a:ext cx="5400000" cy="5256000"/>
          </a:xfrm>
          <a:prstGeom prst="rect">
            <a:avLst/>
          </a:prstGeom>
          <a:solidFill>
            <a:srgbClr val="050810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8000" y="1476000"/>
            <a:ext cx="5184000" cy="51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DCE8F0"/>
                </a:solidFill>
                <a:latin typeface="Courier New"/>
              </a:rPr>
              <a:t># Non-streaming
curl -X POST https://litellm-proxy-vici.zeabur.app/v1/chat/completions \
  -H "Authorization: Bearer $KEY" \
  -H "Content-Type: application/json" \
  -d '{
    "model": "claude-cli/claude-sonnet-4-5",
    "messages": [{"role":"user","content":"Hello"}]
  }'
# Streaming — returns SSE chunks
curl ... -d '{..., "stream": true}'
# Tool use
curl ... -d '{
  ...,
  "tools": [{"type": "function", "function": {
    "name": "get_weather",
    "description": "Get current weather",
    "parameters": { ... }
  }}]
}'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7CFF"/>
                </a:solidFill>
                <a:latin typeface="Courier New"/>
              </a:rP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Bold"/>
              </a:rPr>
              <a:t>GitHub Skills — CI/CD as Claude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18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Calibri"/>
              </a:rPr>
              <a:t>Four .md skill files in github-skills/skills/, symlinked into .claude/commands/. Invoke directly from Claude Code — no copy-paste, no context switching.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548000"/>
            <a:ext cx="2700000" cy="144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000" y="1620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47CFF"/>
                </a:solidFill>
                <a:latin typeface="Courier New"/>
              </a:rPr>
              <a:t>/gh-status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1872000"/>
            <a:ext cx="24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List recent workflow runs. Read-only — safe to call any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2448000"/>
            <a:ext cx="24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repo (required) · limit (default: 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4000" y="1548000"/>
            <a:ext cx="2700000" cy="144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2000" y="1620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47CFF"/>
                </a:solidFill>
                <a:latin typeface="Courier New"/>
              </a:rPr>
              <a:t>/gh-test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000" y="1872000"/>
            <a:ext cx="24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Trigger test.yml, poll until complete, return pass/fail + URL.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0" y="2448000"/>
            <a:ext cx="24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repo (required) · branch (default: main)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8000" y="1548000"/>
            <a:ext cx="2700000" cy="144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1620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47CFF"/>
                </a:solidFill>
                <a:latin typeface="Courier New"/>
              </a:rPr>
              <a:t>/gh-lint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1872000"/>
            <a:ext cx="24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Trigger lint.yml, poll with 10s intervals (max 5 min).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448000"/>
            <a:ext cx="24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repo (required) · branch (default: main)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52000" y="1548000"/>
            <a:ext cx="2700000" cy="1440000"/>
          </a:xfrm>
          <a:prstGeom prst="rect">
            <a:avLst/>
          </a:prstGeom>
          <a:solidFill>
            <a:srgbClr val="0E1419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0" y="1620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757"/>
                </a:solidFill>
                <a:latin typeface="Courier New"/>
              </a:rPr>
              <a:t>/gh-deploy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0" y="1872000"/>
            <a:ext cx="24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Deploy with mandatory CONFIRM gate. Auto-detects repo &amp; changed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0" y="2448000"/>
            <a:ext cx="24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repo · branch · environment ·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3240000"/>
            <a:ext cx="54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SAFETY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3420000"/>
            <a:ext cx="5400000" cy="18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3528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000" y="3528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Deploy requires user to type CONFIRM before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000" y="3708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000" y="3708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Validator warns on embedded credentials / Bearer tokens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" y="3888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000" y="3888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validator.py enforces schema: name, description, version, inputs,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000" y="4068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000" y="4068000"/>
            <a:ext cx="489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test_all_skills_valid() runs in CI — all 4 files must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0000" y="3240000"/>
            <a:ext cx="50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AUTO-DETECT IN /GH-DEPLOY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60000" y="3420000"/>
            <a:ext cx="5040000" cy="1872000"/>
          </a:xfrm>
          <a:prstGeom prst="rect">
            <a:avLst/>
          </a:prstGeom>
          <a:solidFill>
            <a:srgbClr val="050810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8000" y="3492000"/>
            <a:ext cx="4824000" cy="172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DCE8F0"/>
                </a:solidFill>
                <a:latin typeface="Courier New"/>
              </a:rPr>
              <a:t># Detect repo from git remote
git remote get-url origin
# → https://github.com/user/repo.git
# Detect changed service from diff
git diff --name-only HEAD~1
# litellm-proxy/** → service=litellm-proxy
# browser-agent/** → service=browser-agent
# both / neither   → service=all
# Symlink install
ln -s ../github-skills/skills .claude/commands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C974"/>
                </a:solidFill>
                <a:latin typeface="Courier New"/>
              </a:rP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 Bold"/>
              </a:rPr>
              <a:t>Browser Agent — Natural Language → Web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188000"/>
            <a:ext cx="50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TOOL-USE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68000"/>
            <a:ext cx="5040000" cy="27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7999" y="1476000"/>
            <a:ext cx="198000" cy="198000"/>
          </a:xfrm>
          <a:prstGeom prst="ellipse">
            <a:avLst/>
          </a:prstGeom>
          <a:solidFill>
            <a:srgbClr val="3D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999" y="1476000"/>
            <a:ext cx="19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0C10"/>
                </a:solidFill>
                <a:latin typeface="Calibri"/>
              </a:rP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476000"/>
            <a:ext cx="45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E8F0"/>
                </a:solidFill>
                <a:latin typeface="Calibri"/>
              </a:rPr>
              <a:t>POST /run-task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601999"/>
            <a:ext cx="45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{"task": "What is the latest Python release?"}</a:t>
            </a:r>
          </a:p>
        </p:txBody>
      </p:sp>
      <p:sp>
        <p:nvSpPr>
          <p:cNvPr id="10" name="Oval 9"/>
          <p:cNvSpPr/>
          <p:nvPr/>
        </p:nvSpPr>
        <p:spPr>
          <a:xfrm>
            <a:off x="827999" y="1962000"/>
            <a:ext cx="198000" cy="198000"/>
          </a:xfrm>
          <a:prstGeom prst="ellipse">
            <a:avLst/>
          </a:prstGeom>
          <a:solidFill>
            <a:srgbClr val="A4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999" y="1962000"/>
            <a:ext cx="19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0C10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962000"/>
            <a:ext cx="45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E8F0"/>
                </a:solidFill>
                <a:latin typeface="Calibri"/>
              </a:rPr>
              <a:t>Claude decides: call browser_search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2087999"/>
            <a:ext cx="45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tool_calls → {name: "browser_search", args: {…}}</a:t>
            </a:r>
          </a:p>
        </p:txBody>
      </p:sp>
      <p:sp>
        <p:nvSpPr>
          <p:cNvPr id="14" name="Oval 13"/>
          <p:cNvSpPr/>
          <p:nvPr/>
        </p:nvSpPr>
        <p:spPr>
          <a:xfrm>
            <a:off x="827999" y="2448000"/>
            <a:ext cx="198000" cy="198000"/>
          </a:xfrm>
          <a:prstGeom prst="ellipse">
            <a:avLst/>
          </a:prstGeom>
          <a:solidFill>
            <a:srgbClr val="34C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99" y="2448000"/>
            <a:ext cx="19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0C10"/>
                </a:solidFill>
                <a:latin typeface="Calibri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2448000"/>
            <a:ext cx="45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E8F0"/>
                </a:solidFill>
                <a:latin typeface="Calibri"/>
              </a:rPr>
              <a:t>Execute: DuckDuckGo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2573999"/>
            <a:ext cx="45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Result added back as tool message</a:t>
            </a:r>
          </a:p>
        </p:txBody>
      </p:sp>
      <p:sp>
        <p:nvSpPr>
          <p:cNvPr id="18" name="Oval 17"/>
          <p:cNvSpPr/>
          <p:nvPr/>
        </p:nvSpPr>
        <p:spPr>
          <a:xfrm>
            <a:off x="827999" y="2934000"/>
            <a:ext cx="198000" cy="198000"/>
          </a:xfrm>
          <a:prstGeom prst="ellipse">
            <a:avLst/>
          </a:prstGeom>
          <a:solidFill>
            <a:srgbClr val="A4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99" y="2934000"/>
            <a:ext cx="19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0C10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2934000"/>
            <a:ext cx="45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E8F0"/>
                </a:solidFill>
                <a:latin typeface="Calibri"/>
              </a:rPr>
              <a:t>Claude decides: navigate + extract_text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059999"/>
            <a:ext cx="45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Reads python.org/downloads body (≤8 000 chars)</a:t>
            </a:r>
          </a:p>
        </p:txBody>
      </p:sp>
      <p:sp>
        <p:nvSpPr>
          <p:cNvPr id="22" name="Oval 21"/>
          <p:cNvSpPr/>
          <p:nvPr/>
        </p:nvSpPr>
        <p:spPr>
          <a:xfrm>
            <a:off x="827999" y="3420000"/>
            <a:ext cx="198000" cy="198000"/>
          </a:xfrm>
          <a:prstGeom prst="ellipse">
            <a:avLst/>
          </a:prstGeom>
          <a:solidFill>
            <a:srgbClr val="34C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99" y="3420000"/>
            <a:ext cx="19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0C10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3420000"/>
            <a:ext cx="45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E8F0"/>
                </a:solidFill>
                <a:latin typeface="Calibri"/>
              </a:rPr>
              <a:t>Claude calls done(answer)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3545999"/>
            <a:ext cx="45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ourier New"/>
              </a:rPr>
              <a:t>Loop exits — returns answer + full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1188000"/>
            <a:ext cx="50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6 BROWSER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0" y="1368000"/>
            <a:ext cx="5040000" cy="1368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8000" y="144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2000" y="144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browser_search(query) — DuckDuckGo HTML (no API key)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8000" y="162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2000" y="162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navigate(url) — Playwright goto, returns 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8000" y="180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2000" y="180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extract_text() — page body ≤ 8 000 chars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8000" y="198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2000" y="198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click(selector) — Playwright click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8000" y="216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2000" y="216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type_text(selector, text) — Playwright fill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8000" y="2340000"/>
            <a:ext cx="1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D9CF0"/>
                </a:solidFill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2000" y="2340000"/>
            <a:ext cx="471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07080"/>
                </a:solidFill>
              </a:rPr>
              <a:t>done(answer) — terminates loop with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0000" y="2844000"/>
            <a:ext cx="50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POST /RUN-TASK 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0000" y="3024000"/>
            <a:ext cx="5040000" cy="1980000"/>
          </a:xfrm>
          <a:prstGeom prst="rect">
            <a:avLst/>
          </a:prstGeom>
          <a:solidFill>
            <a:srgbClr val="050810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8000" y="3096000"/>
            <a:ext cx="4824000" cy="183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DCE8F0"/>
                </a:solidFill>
                <a:latin typeface="Courier New"/>
              </a:rPr>
              <a:t>{
  "task_id": "uuid",
  "status": "completed",
  "result": "Python 3.13.2 released...",
  "steps_taken": 3,
  "logs": [{
    "step": 1,
    "action": "browser_search",
    "input": {"query": "..."},
    "output": "...",
    "timestamp": "2026-03-15T..."
  }]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9640"/>
                </a:solidFill>
                <a:latin typeface="Courier New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 Bold"/>
              </a:rPr>
              <a:t>TDD Evidence — Red → Green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224000"/>
            <a:ext cx="2700000" cy="792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27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D9CF0"/>
                </a:solidFill>
                <a:latin typeface="Calibri Bold"/>
              </a:rPr>
              <a:t>73+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55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Unit Tests
(+ 6 integration)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8000" y="1224000"/>
            <a:ext cx="2700000" cy="792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8000" y="1260000"/>
            <a:ext cx="27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D9CF0"/>
                </a:solidFill>
                <a:latin typeface="Calibri Bold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8000" y="1655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Task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000" y="1224000"/>
            <a:ext cx="2700000" cy="792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000" y="1260000"/>
            <a:ext cx="27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A47CFF"/>
                </a:solidFill>
                <a:latin typeface="Calibri Bold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000" y="1655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Task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224000"/>
            <a:ext cx="2700000" cy="792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60000"/>
            <a:ext cx="27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C974"/>
                </a:solidFill>
                <a:latin typeface="Calibri Bold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55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Task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160000"/>
            <a:ext cx="10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A4A5A"/>
                </a:solidFill>
                <a:latin typeface="Courier New"/>
              </a:rPr>
              <a:t>ACTUAL GIT COMMIT PAIRS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3760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3940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25560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test(task1): add failing test for simple user message assembly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0000" y="23760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2000" y="23940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2000" y="25560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feat(task1): implement assemble_prompt for simple user message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30168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30348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" y="31968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test(task1): add failing tests for CLI command builder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0000" y="30168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2000" y="30348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2000" y="31968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feat(task1): implement _build_cmd for claude CLI invocation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36576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" y="36756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38376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test(task1): add failing test for astreaming yields text chunks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0" y="36576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2000" y="36756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2000" y="38376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feat(task1): implement astreaming with JSON line parsing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42984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" y="43164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00" y="44784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test(task2): add failing tests for load_frontmatter, check_required_fields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0000" y="42984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2000" y="43164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2000" y="44784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feat(task2): implement load_frontmatter, check_required_fields, validate_skill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0" y="49392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000" y="49572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000" y="51192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test(task2): add failing test that all skill files pass validate_skill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80000" y="49392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2000" y="49572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2000" y="51192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feat(task2): add skill markdown files (gh-lint, gh-test, gh-deploy, gh-status)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000" y="5580000"/>
            <a:ext cx="5760000" cy="612000"/>
          </a:xfrm>
          <a:prstGeom prst="rect">
            <a:avLst/>
          </a:prstGeom>
          <a:solidFill>
            <a:srgbClr val="1A0505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000" y="55980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5757"/>
                </a:solidFill>
                <a:latin typeface="Courier New"/>
              </a:rPr>
              <a:t>🔴 FAILING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000" y="57600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test(task3): add failing test for browser_search returns results 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0000" y="5580000"/>
            <a:ext cx="5760000" cy="612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2000" y="5598000"/>
            <a:ext cx="56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4C974"/>
                </a:solidFill>
                <a:latin typeface="Courier New"/>
              </a:rPr>
              <a:t>🟢 IMPLEMENTATION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2000" y="5760000"/>
            <a:ext cx="56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Courier New"/>
              </a:rPr>
              <a:t>feat(task3): implement browser_search tool with DuckDuckGo HTML parser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C974"/>
                </a:solidFill>
                <a:latin typeface="Courier New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 Bold"/>
              </a:rP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9CF0"/>
                </a:solidFill>
                <a:latin typeface="Courier New"/>
              </a:rPr>
              <a:t>TASK 1 — LITELLM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5400000" cy="1440000"/>
          </a:xfrm>
          <a:prstGeom prst="rect">
            <a:avLst/>
          </a:prstGeom>
          <a:solidFill>
            <a:srgbClr val="050810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000" y="1404000"/>
            <a:ext cx="5184000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DCE8F0"/>
                </a:solidFill>
                <a:latin typeface="Courier New"/>
              </a:rPr>
              <a:t>curl -X POST https://litellm-proxy-vici.zeabur.app\
         /v1/chat/completions \
  -H "Authorization: Bearer $KEY" \
  -H "Content-Type: application/json" \
  -d '{
    "model": "claude-cli/claude-sonnet-4-5",
    "messages": [{"role":"user","content":"Hello"}]
  }'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000" y="1152000"/>
            <a:ext cx="48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C974"/>
                </a:solidFill>
                <a:latin typeface="Courier New"/>
              </a:rPr>
              <a:t>TASK 3 — BROWSER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000" y="1332000"/>
            <a:ext cx="4860000" cy="1440000"/>
          </a:xfrm>
          <a:prstGeom prst="rect">
            <a:avLst/>
          </a:prstGeom>
          <a:solidFill>
            <a:srgbClr val="050810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1404000"/>
            <a:ext cx="4644000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DCE8F0"/>
                </a:solidFill>
                <a:latin typeface="Courier New"/>
              </a:rPr>
              <a:t>curl -X POST https://browser-agent.zeabur.app/run-task \
  -H "Authorization: Bearer $KEY" \
  -H "Content-Type: application/json" \
  -d '{
    "task": "What is the latest Python release?",
    "max_steps": 10
  }'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916000"/>
            <a:ext cx="10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7CFF"/>
                </a:solidFill>
                <a:latin typeface="Courier New"/>
              </a:rPr>
              <a:t>TASK 2 — GITHUB SKILLS (run inside Claude Code 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3131999"/>
            <a:ext cx="1620000" cy="251999"/>
          </a:xfrm>
          <a:prstGeom prst="rect">
            <a:avLst/>
          </a:prstGeom>
          <a:solidFill>
            <a:srgbClr val="231A40"/>
          </a:solidFill>
          <a:ln w="6350">
            <a:solidFill>
              <a:srgbClr val="3A2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3131999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47CFF"/>
                </a:solidFill>
                <a:latin typeface="Courier New"/>
              </a:rPr>
              <a:t>/gh-status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4000" y="3131999"/>
            <a:ext cx="1620000" cy="251999"/>
          </a:xfrm>
          <a:prstGeom prst="rect">
            <a:avLst/>
          </a:prstGeom>
          <a:solidFill>
            <a:srgbClr val="231A40"/>
          </a:solidFill>
          <a:ln w="6350">
            <a:solidFill>
              <a:srgbClr val="3A2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4000" y="3131999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47CFF"/>
                </a:solidFill>
                <a:latin typeface="Courier New"/>
              </a:rPr>
              <a:t>/gh-test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8000" y="3131999"/>
            <a:ext cx="1620000" cy="251999"/>
          </a:xfrm>
          <a:prstGeom prst="rect">
            <a:avLst/>
          </a:prstGeom>
          <a:solidFill>
            <a:srgbClr val="231A40"/>
          </a:solidFill>
          <a:ln w="6350">
            <a:solidFill>
              <a:srgbClr val="3A2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000" y="3131999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47CFF"/>
                </a:solidFill>
                <a:latin typeface="Courier New"/>
              </a:rPr>
              <a:t>/gh-lint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000" y="3131999"/>
            <a:ext cx="2340000" cy="251999"/>
          </a:xfrm>
          <a:prstGeom prst="rect">
            <a:avLst/>
          </a:prstGeom>
          <a:solidFill>
            <a:srgbClr val="2E1010"/>
          </a:solidFill>
          <a:ln w="63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2000" y="313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5757"/>
                </a:solidFill>
                <a:latin typeface="Courier New"/>
              </a:rPr>
              <a:t>/gh-deploy ⚠ requires CONFIRM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0" y="3671999"/>
            <a:ext cx="6480000" cy="720000"/>
          </a:xfrm>
          <a:prstGeom prst="rect">
            <a:avLst/>
          </a:prstGeom>
          <a:solidFill>
            <a:srgbClr val="0D2A40"/>
          </a:solidFill>
          <a:ln w="25400">
            <a:solidFill>
              <a:srgbClr val="3D9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0" y="3671999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D9CF0"/>
                </a:solidFill>
                <a:latin typeface="Calibri Bold"/>
              </a:rPr>
              <a:t>▶  Open Live Demo in Browser  →</a:t>
              <a:hlinkClick r:id="rId2"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00000"/>
            <a:ext cx="10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</a:rPr>
              <a:t>Note: The live demo requires running services and a LiteLLM master key. Open presentation.html in a browser for the interactive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C974"/>
                </a:solidFill>
                <a:latin typeface="Courier New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Bold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260000"/>
            <a:ext cx="5220000" cy="18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8000" y="1314000"/>
            <a:ext cx="52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D9CF0"/>
                </a:solidFill>
                <a:latin typeface="Courier New"/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Python 3.11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4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4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LiteLLM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" y="172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" y="172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Playwright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72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72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Pydantic 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4000" y="172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4000" y="172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uvicorn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000" y="1926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" y="1926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asyncio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926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926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uv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1260000"/>
            <a:ext cx="5220000" cy="18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1314000"/>
            <a:ext cx="52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9640"/>
                </a:solidFill>
                <a:latin typeface="Courier New"/>
              </a:rPr>
              <a:t>AI / CLI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8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8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Claude CLI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6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6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claude-sonnet-4-5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4000" y="153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4000" y="153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OpenAI tool_calls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8000" y="172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8000" y="172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stream-json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6000" y="172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6000" y="172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ANTHROPIC_API_KEY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3240000"/>
            <a:ext cx="5220000" cy="18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000" y="3294000"/>
            <a:ext cx="52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7CFF"/>
                </a:solidFill>
                <a:latin typeface="Courier New"/>
              </a:rPr>
              <a:t>CI/CD &amp; DEPLOY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GitHub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gh CLI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4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4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Docker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Zeabur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zeabur.yaml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4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4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Claude Code Skills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000" y="3240000"/>
            <a:ext cx="5220000" cy="1800000"/>
          </a:xfrm>
          <a:prstGeom prst="rect">
            <a:avLst/>
          </a:prstGeom>
          <a:solidFill>
            <a:srgbClr val="0E1419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8000" y="3294000"/>
            <a:ext cx="52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C974"/>
                </a:solidFill>
                <a:latin typeface="Courier New"/>
              </a:rPr>
              <a:t>TESTING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8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8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pytest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6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6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pytest-asyncio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4000" y="3510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4000" y="3510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unittest.mock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8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8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httpx TestClient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6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6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73+ unit tests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4000" y="3708000"/>
            <a:ext cx="1368000" cy="162000"/>
          </a:xfrm>
          <a:prstGeom prst="rect">
            <a:avLst/>
          </a:prstGeom>
          <a:solidFill>
            <a:srgbClr val="141C24"/>
          </a:solidFill>
          <a:ln w="6350">
            <a:solidFill>
              <a:srgbClr val="1E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4000" y="3708000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alibri"/>
              </a:rPr>
              <a:t>@pytest.mark.integration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0" y="5256000"/>
            <a:ext cx="10800000" cy="1368000"/>
          </a:xfrm>
          <a:prstGeom prst="rect">
            <a:avLst/>
          </a:prstGeom>
          <a:solidFill>
            <a:srgbClr val="0E2E1C"/>
          </a:solidFill>
          <a:ln w="6350">
            <a:solidFill>
              <a:srgbClr val="34C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0000" y="536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C974"/>
                </a:solidFill>
                <a:latin typeface="Calibri Bold"/>
              </a:rPr>
              <a:t>All three tasks complete 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000" y="568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Calibri"/>
              </a:rPr>
              <a:t>Strict TDD workflow · Zeabur deployment · GitHub CI/CD · Claude Skills symlinked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60000" y="54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C974"/>
                </a:solidFill>
                <a:latin typeface="Calibri Bold"/>
              </a:rPr>
              <a:t>73+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60000" y="5796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ourier New"/>
              </a:rPr>
              <a:t>TESTS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40000" y="54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C974"/>
                </a:solidFill>
                <a:latin typeface="Calibri Bold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40000" y="5796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ourier New"/>
              </a:rPr>
              <a:t>SERVICES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20000" y="54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C974"/>
                </a:solidFill>
                <a:latin typeface="Calibri Bold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20000" y="5796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Courier New"/>
              </a:rPr>
              <a:t>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